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74" r:id="rId11"/>
    <p:sldId id="27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studio.google.com/reporting/df975ee5-def1-4a9f-9ea8-4a200ec1d70c/page/BO49F" TargetMode="External"/><Relationship Id="rId3" Type="http://schemas.openxmlformats.org/officeDocument/2006/relationships/image" Target="../media/image7.jpeg"/><Relationship Id="rId7" Type="http://schemas.openxmlformats.org/officeDocument/2006/relationships/image" Target="../media/image9.png"/><Relationship Id="rId2" Type="http://schemas.openxmlformats.org/officeDocument/2006/relationships/hyperlink" Target="https://docs.google.com/forms/d/e/1FAIpQLScXc3tBo8mg90BMTYJNG8u3f32y7tj4vnrkocMpLHZF1XLpMg/viewform?usp=header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script.google.com/macros/s/AKfycbwnxr4Tgl1IGFuK6rJSGn-veByLQpDbGl-uJFK2XjAygMT-qCmaIyxdQ4oyOk7wEYB_/exec" TargetMode="External"/><Relationship Id="rId5" Type="http://schemas.openxmlformats.org/officeDocument/2006/relationships/image" Target="../media/image8.png"/><Relationship Id="rId4" Type="http://schemas.openxmlformats.org/officeDocument/2006/relationships/hyperlink" Target="https://docs.google.com/spreadsheets/d/1I7t-aD9UxCPxWEtCiQipRQBJGfAzRHyxlKRNQYICbzg/edit?gid=1177157000#gid=1177157000" TargetMode="External"/><Relationship Id="rId9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04856" cy="68580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8057" y="1485902"/>
            <a:ext cx="39994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673AB7"/>
                </a:solidFill>
                <a:latin typeface="Aptos Display"/>
              </a:defRPr>
            </a:pPr>
            <a:r>
              <a:rPr lang="en-US" sz="5400" dirty="0"/>
              <a:t>NIVORA</a:t>
            </a:r>
            <a:endParaRPr sz="5400" dirty="0"/>
          </a:p>
        </p:txBody>
      </p:sp>
      <p:sp>
        <p:nvSpPr>
          <p:cNvPr id="4" name="TextBox 3"/>
          <p:cNvSpPr txBox="1"/>
          <p:nvPr/>
        </p:nvSpPr>
        <p:spPr>
          <a:xfrm>
            <a:off x="2363256" y="2178400"/>
            <a:ext cx="64577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242424"/>
                </a:solidFill>
              </a:defRPr>
            </a:pPr>
            <a:r>
              <a:rPr lang="en-IN" sz="2400" dirty="0">
                <a:solidFill>
                  <a:srgbClr val="242424"/>
                </a:solidFill>
              </a:rPr>
              <a:t>Room Search &amp; Analytics Platform</a:t>
            </a:r>
            <a:endParaRPr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1FDF7F1-AA03-397A-439B-F7CDB3954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0859" y="0"/>
            <a:ext cx="3023616" cy="100787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4E8E31D-146E-1A55-D85C-D8A0C7AA262A}"/>
              </a:ext>
            </a:extLst>
          </p:cNvPr>
          <p:cNvSpPr txBox="1"/>
          <p:nvPr/>
        </p:nvSpPr>
        <p:spPr>
          <a:xfrm>
            <a:off x="1966781" y="4003021"/>
            <a:ext cx="1024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42424"/>
                </a:solidFill>
              </a:defRPr>
            </a:pPr>
            <a:r>
              <a:rPr lang="en-US" dirty="0">
                <a:solidFill>
                  <a:srgbClr val="7030A0"/>
                </a:solidFill>
              </a:rPr>
              <a:t>Team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7C6B60-C12D-FAF6-FEDA-F91561A8241C}"/>
              </a:ext>
            </a:extLst>
          </p:cNvPr>
          <p:cNvSpPr txBox="1"/>
          <p:nvPr/>
        </p:nvSpPr>
        <p:spPr>
          <a:xfrm>
            <a:off x="841482" y="4500329"/>
            <a:ext cx="36273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  <a:defRPr sz="2400">
                <a:solidFill>
                  <a:srgbClr val="242424"/>
                </a:solidFill>
              </a:defRPr>
            </a:pPr>
            <a:r>
              <a:rPr lang="en-US" dirty="0"/>
              <a:t>Moreshwar Shukla</a:t>
            </a:r>
          </a:p>
          <a:p>
            <a:pPr marL="457200" indent="-457200">
              <a:buAutoNum type="arabicPeriod"/>
              <a:defRPr sz="2400">
                <a:solidFill>
                  <a:srgbClr val="242424"/>
                </a:solidFill>
              </a:defRPr>
            </a:pPr>
            <a:r>
              <a:rPr lang="en-US" dirty="0"/>
              <a:t>Prathamesh Kulkarni</a:t>
            </a:r>
          </a:p>
          <a:p>
            <a:pPr marL="457200" indent="-457200">
              <a:buAutoNum type="arabicPeriod"/>
              <a:defRPr sz="2400">
                <a:solidFill>
                  <a:srgbClr val="242424"/>
                </a:solidFill>
              </a:defRPr>
            </a:pPr>
            <a:r>
              <a:rPr lang="en-US" dirty="0"/>
              <a:t>Vaishnavi Ambhore</a:t>
            </a:r>
          </a:p>
          <a:p>
            <a:pPr marL="457200" indent="-457200">
              <a:buAutoNum type="arabicPeriod"/>
              <a:defRPr sz="2400">
                <a:solidFill>
                  <a:srgbClr val="242424"/>
                </a:solidFill>
              </a:defRPr>
            </a:pPr>
            <a:r>
              <a:rPr lang="en-US" dirty="0"/>
              <a:t>Bhakti Kulkarni</a:t>
            </a:r>
          </a:p>
          <a:p>
            <a:pPr marL="457200" indent="-457200">
              <a:buAutoNum type="arabicPeriod"/>
              <a:defRPr sz="2400">
                <a:solidFill>
                  <a:srgbClr val="242424"/>
                </a:solidFill>
              </a:defRPr>
            </a:pPr>
            <a:r>
              <a:rPr lang="en-US" dirty="0"/>
              <a:t>Rohit Adhav</a:t>
            </a:r>
            <a:endParaRPr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D49C13-82E5-504D-FCF7-A7365779A854}"/>
              </a:ext>
            </a:extLst>
          </p:cNvPr>
          <p:cNvSpPr txBox="1"/>
          <p:nvPr/>
        </p:nvSpPr>
        <p:spPr>
          <a:xfrm>
            <a:off x="5592143" y="3983755"/>
            <a:ext cx="1373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42424"/>
                </a:solidFill>
              </a:defRPr>
            </a:pPr>
            <a:r>
              <a:rPr lang="en-US" dirty="0">
                <a:solidFill>
                  <a:srgbClr val="7030A0"/>
                </a:solidFill>
              </a:rPr>
              <a:t>Guide By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27A4E1-9522-2D86-0B07-2DA65F979668}"/>
              </a:ext>
            </a:extLst>
          </p:cNvPr>
          <p:cNvSpPr txBox="1"/>
          <p:nvPr/>
        </p:nvSpPr>
        <p:spPr>
          <a:xfrm>
            <a:off x="9797797" y="3905322"/>
            <a:ext cx="1373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42424"/>
                </a:solidFill>
              </a:defRPr>
            </a:pPr>
            <a:r>
              <a:rPr lang="en-US" dirty="0">
                <a:solidFill>
                  <a:srgbClr val="7030A0"/>
                </a:solidFill>
              </a:rPr>
              <a:t>Tool Use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943AE0-C78A-2447-739C-A1DF55B13421}"/>
              </a:ext>
            </a:extLst>
          </p:cNvPr>
          <p:cNvSpPr txBox="1"/>
          <p:nvPr/>
        </p:nvSpPr>
        <p:spPr>
          <a:xfrm>
            <a:off x="5617052" y="4500329"/>
            <a:ext cx="15820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42424"/>
                </a:solidFill>
              </a:defRPr>
            </a:pPr>
            <a:r>
              <a:rPr lang="en-US" dirty="0"/>
              <a:t>Sachin Sir</a:t>
            </a:r>
            <a:endParaRPr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D5CD57-440A-31A6-0668-C530A93F955A}"/>
              </a:ext>
            </a:extLst>
          </p:cNvPr>
          <p:cNvSpPr txBox="1"/>
          <p:nvPr/>
        </p:nvSpPr>
        <p:spPr>
          <a:xfrm>
            <a:off x="9160295" y="4464686"/>
            <a:ext cx="36273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  <a:defRPr sz="2400">
                <a:solidFill>
                  <a:srgbClr val="242424"/>
                </a:solidFill>
              </a:defRPr>
            </a:pPr>
            <a:r>
              <a:rPr lang="en-US" dirty="0"/>
              <a:t>Google Forms</a:t>
            </a:r>
          </a:p>
          <a:p>
            <a:pPr marL="457200" indent="-457200">
              <a:buAutoNum type="arabicPeriod"/>
              <a:defRPr sz="2400">
                <a:solidFill>
                  <a:srgbClr val="242424"/>
                </a:solidFill>
              </a:defRPr>
            </a:pPr>
            <a:r>
              <a:rPr lang="en-US" dirty="0"/>
              <a:t>Google Sheets</a:t>
            </a:r>
          </a:p>
          <a:p>
            <a:pPr marL="457200" indent="-457200">
              <a:buAutoNum type="arabicPeriod"/>
              <a:defRPr sz="2400">
                <a:solidFill>
                  <a:srgbClr val="242424"/>
                </a:solidFill>
              </a:defRPr>
            </a:pPr>
            <a:r>
              <a:rPr lang="en-US" dirty="0"/>
              <a:t>Apps Script </a:t>
            </a:r>
          </a:p>
          <a:p>
            <a:pPr marL="457200" indent="-457200">
              <a:buAutoNum type="arabicPeriod"/>
              <a:defRPr sz="2400">
                <a:solidFill>
                  <a:srgbClr val="242424"/>
                </a:solidFill>
              </a:defRPr>
            </a:pPr>
            <a:r>
              <a:rPr lang="en-US" dirty="0"/>
              <a:t>Looker Studio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673AB7"/>
                </a:solidFill>
                <a:latin typeface="Aptos Display"/>
              </a:defRPr>
            </a:pPr>
            <a:r>
              <a:rPr dirty="0"/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4240" y="1961317"/>
            <a:ext cx="5212080" cy="3858768"/>
          </a:xfrm>
          <a:prstGeom prst="roundRect">
            <a:avLst>
              <a:gd name="adj" fmla="val 4898"/>
            </a:avLst>
          </a:prstGeom>
          <a:solidFill>
            <a:srgbClr val="F3EEFA"/>
          </a:solidFill>
          <a:ln>
            <a:solidFill>
              <a:srgbClr val="E0D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 dirty="0"/>
          </a:p>
        </p:txBody>
      </p:sp>
      <p:sp>
        <p:nvSpPr>
          <p:cNvPr id="7" name="Rectangle: Rounded Corners 6"/>
          <p:cNvSpPr/>
          <p:nvPr/>
        </p:nvSpPr>
        <p:spPr>
          <a:xfrm>
            <a:off x="1590765" y="1815013"/>
            <a:ext cx="3519715" cy="438912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Problems Faced by House Owners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68831" y="2125909"/>
            <a:ext cx="28671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lang="en-US" dirty="0"/>
              <a:t>Owner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068831" y="2985445"/>
            <a:ext cx="4935729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Difficult to find suitable tenants </a:t>
            </a:r>
          </a:p>
          <a:p>
            <a:pPr lvl="0"/>
            <a:endParaRPr lang="en-IN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Limited visibility of available rooms</a:t>
            </a:r>
          </a:p>
          <a:p>
            <a:pPr lvl="0"/>
            <a:r>
              <a:rPr lang="en-IN" sz="20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Need to share the same room information repeatedly</a:t>
            </a:r>
          </a:p>
          <a:p>
            <a:pPr marL="285750" indent="-285750">
              <a:buFont typeface="Arial" panose="020B0604020202020204" pitchFamily="34" charset="0"/>
              <a:buChar char="•"/>
              <a:defRPr sz="1150">
                <a:solidFill>
                  <a:srgbClr val="242424"/>
                </a:solidFill>
                <a:latin typeface="Aptos"/>
              </a:defRPr>
            </a:pPr>
            <a:endParaRPr lang="en-US" sz="12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64C7D2E-1D52-873A-2CC4-05615CE8F22D}"/>
              </a:ext>
            </a:extLst>
          </p:cNvPr>
          <p:cNvSpPr/>
          <p:nvPr/>
        </p:nvSpPr>
        <p:spPr>
          <a:xfrm>
            <a:off x="0" y="0"/>
            <a:ext cx="404856" cy="68580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5">
            <a:extLst>
              <a:ext uri="{FF2B5EF4-FFF2-40B4-BE49-F238E27FC236}">
                <a16:creationId xmlns:a16="http://schemas.microsoft.com/office/drawing/2014/main" id="{1C6EEBE9-285F-DCA8-071B-9900597797B7}"/>
              </a:ext>
            </a:extLst>
          </p:cNvPr>
          <p:cNvSpPr/>
          <p:nvPr/>
        </p:nvSpPr>
        <p:spPr>
          <a:xfrm>
            <a:off x="6439409" y="1967413"/>
            <a:ext cx="5212080" cy="3858768"/>
          </a:xfrm>
          <a:prstGeom prst="roundRect">
            <a:avLst>
              <a:gd name="adj" fmla="val 4898"/>
            </a:avLst>
          </a:prstGeom>
          <a:solidFill>
            <a:srgbClr val="F3EEFA"/>
          </a:solidFill>
          <a:ln>
            <a:solidFill>
              <a:srgbClr val="E0D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3FAD5C2-C75A-1F01-95D7-0D4118991ABA}"/>
              </a:ext>
            </a:extLst>
          </p:cNvPr>
          <p:cNvSpPr/>
          <p:nvPr/>
        </p:nvSpPr>
        <p:spPr>
          <a:xfrm>
            <a:off x="7125934" y="1821109"/>
            <a:ext cx="3519715" cy="438912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Problems Faced by Tenants</a:t>
            </a:r>
            <a:endParaRPr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ECDEBB-8A65-88B7-C0EB-9DED2352B7D8}"/>
              </a:ext>
            </a:extLst>
          </p:cNvPr>
          <p:cNvSpPr txBox="1"/>
          <p:nvPr/>
        </p:nvSpPr>
        <p:spPr>
          <a:xfrm>
            <a:off x="6604000" y="2132005"/>
            <a:ext cx="28671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lang="en-US" dirty="0"/>
              <a:t>Owner</a:t>
            </a:r>
            <a:endParaRPr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D90F8F2-7162-7BA5-4AED-28066BD537CA}"/>
              </a:ext>
            </a:extLst>
          </p:cNvPr>
          <p:cNvSpPr txBox="1"/>
          <p:nvPr/>
        </p:nvSpPr>
        <p:spPr>
          <a:xfrm>
            <a:off x="6503944" y="2614045"/>
            <a:ext cx="5535169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Difficult to find rooms in a specific area</a:t>
            </a:r>
          </a:p>
          <a:p>
            <a:pPr lvl="0"/>
            <a:r>
              <a:rPr lang="en-IN" sz="20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Room information is available in different</a:t>
            </a:r>
          </a:p>
          <a:p>
            <a:pPr lvl="0"/>
            <a:r>
              <a:rPr lang="en-IN" sz="2000" dirty="0"/>
              <a:t>      places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Difficult to compare rent and facilities </a:t>
            </a:r>
          </a:p>
          <a:p>
            <a:pPr lvl="0"/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Room availability is not always updated </a:t>
            </a:r>
          </a:p>
          <a:p>
            <a:pPr lvl="0"/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Tenants may need to visit many places</a:t>
            </a:r>
          </a:p>
          <a:p>
            <a:pPr marL="285750" indent="-285750">
              <a:buFont typeface="Arial" panose="020B0604020202020204" pitchFamily="34" charset="0"/>
              <a:buChar char="•"/>
              <a:defRPr sz="1150">
                <a:solidFill>
                  <a:srgbClr val="242424"/>
                </a:solidFill>
                <a:latin typeface="Aptos"/>
              </a:defRPr>
            </a:pP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91160" y="329184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673AB7"/>
                </a:solidFill>
                <a:latin typeface="Aptos Display"/>
              </a:defRPr>
            </a:pPr>
            <a:r>
              <a:rPr dirty="0"/>
              <a:t>Our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3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F13504ED-9E34-B4B4-97DE-163E527A1A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148"/>
          <a:stretch>
            <a:fillRect/>
          </a:stretch>
        </p:blipFill>
        <p:spPr>
          <a:xfrm>
            <a:off x="0" y="941832"/>
            <a:ext cx="12191694" cy="59161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673AB7"/>
                </a:solidFill>
                <a:latin typeface="Aptos Display"/>
              </a:defRPr>
            </a:pPr>
            <a:r>
              <a:t>Step 1 — House Owner Registration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492240" cy="5184648"/>
          </a:xfrm>
          <a:prstGeom prst="roundRect">
            <a:avLst>
              <a:gd name="adj" fmla="val 2754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673AB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57161" y="2651760"/>
            <a:ext cx="37490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rPr dirty="0"/>
              <a:t>• Owner name and contact details</a:t>
            </a:r>
          </a:p>
          <a:p>
            <a:pPr>
              <a:spcAft>
                <a:spcPts val="9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rPr dirty="0"/>
              <a:t>• Property / room location</a:t>
            </a:r>
          </a:p>
          <a:p>
            <a:pPr>
              <a:spcAft>
                <a:spcPts val="9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rPr dirty="0"/>
              <a:t>• Monthly rent</a:t>
            </a:r>
          </a:p>
          <a:p>
            <a:pPr>
              <a:spcAft>
                <a:spcPts val="9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rPr dirty="0"/>
              <a:t>• Room type</a:t>
            </a:r>
          </a:p>
          <a:p>
            <a:pPr>
              <a:spcAft>
                <a:spcPts val="9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rPr dirty="0"/>
              <a:t>• Facilities and description</a:t>
            </a:r>
          </a:p>
          <a:p>
            <a:pPr>
              <a:spcAft>
                <a:spcPts val="9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rPr dirty="0"/>
              <a:t>• Availability 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673AB7"/>
                </a:solidFill>
                <a:latin typeface="Aptos Display"/>
              </a:defRPr>
            </a:pPr>
            <a:r>
              <a:t>Step 2 — Centralized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3671"/>
            <a:ext cx="7498079" cy="3865880"/>
          </a:xfrm>
          <a:prstGeom prst="roundRect">
            <a:avLst>
              <a:gd name="adj" fmla="val 3062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673AB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49640" y="1417320"/>
            <a:ext cx="2926080" cy="1417320"/>
          </a:xfrm>
          <a:prstGeom prst="roundRect">
            <a:avLst/>
          </a:prstGeom>
          <a:solidFill>
            <a:srgbClr val="F3EEFA"/>
          </a:solidFill>
          <a:ln>
            <a:solidFill>
              <a:srgbClr val="E0D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50808" y="1618488"/>
            <a:ext cx="252374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73AB7"/>
                </a:solidFill>
                <a:latin typeface="Aptos"/>
              </a:defRPr>
            </a:pPr>
            <a:r>
              <a:t>Cloud Based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0808" y="2039112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2424"/>
                </a:solidFill>
                <a:latin typeface="Aptos"/>
              </a:defRPr>
            </a:pPr>
            <a:r>
              <a:t>Accessible and easy to maintain.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3063240"/>
            <a:ext cx="2926080" cy="1417320"/>
          </a:xfrm>
          <a:prstGeom prst="roundRect">
            <a:avLst/>
          </a:prstGeom>
          <a:solidFill>
            <a:srgbClr val="F3EEFA"/>
          </a:solidFill>
          <a:ln>
            <a:solidFill>
              <a:srgbClr val="E0D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50808" y="3264408"/>
            <a:ext cx="252374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73AB7"/>
                </a:solidFill>
                <a:latin typeface="Aptos"/>
              </a:defRPr>
            </a:pPr>
            <a:r>
              <a:t>Structured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0808" y="3685032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2424"/>
                </a:solidFill>
                <a:latin typeface="Aptos"/>
              </a:defRPr>
            </a:pPr>
            <a:r>
              <a:t>Consistent columns for room records.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4709160"/>
            <a:ext cx="2926080" cy="1051560"/>
          </a:xfrm>
          <a:prstGeom prst="roundRect">
            <a:avLst/>
          </a:prstGeom>
          <a:solidFill>
            <a:srgbClr val="F3EEFA"/>
          </a:solidFill>
          <a:ln>
            <a:solidFill>
              <a:srgbClr val="E0D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50808" y="4910328"/>
            <a:ext cx="252374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73AB7"/>
                </a:solidFill>
                <a:latin typeface="Aptos"/>
              </a:defRPr>
            </a:pPr>
            <a:r>
              <a:t>Connected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0808" y="5330952"/>
            <a:ext cx="2523744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2424"/>
                </a:solidFill>
                <a:latin typeface="Aptos"/>
              </a:defRPr>
            </a:pPr>
            <a:r>
              <a:t>Feeds both the web app and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673AB7"/>
                </a:solidFill>
                <a:latin typeface="Aptos Display"/>
              </a:defRPr>
            </a:pPr>
            <a:r>
              <a:t>Step 3 — RoomFinder Web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7589520" cy="4800600"/>
          </a:xfrm>
          <a:prstGeom prst="roundRect">
            <a:avLst>
              <a:gd name="adj" fmla="val 4604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673AB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07120" y="237744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Room listing interface</a:t>
            </a:r>
          </a:p>
          <a:p>
            <a:pPr>
              <a:spcAft>
                <a:spcPts val="9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Location and rent information</a:t>
            </a:r>
          </a:p>
          <a:p>
            <a:pPr>
              <a:spcAft>
                <a:spcPts val="9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Room type and facilities</a:t>
            </a:r>
          </a:p>
          <a:p>
            <a:pPr>
              <a:spcAft>
                <a:spcPts val="9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Owner-provided availability</a:t>
            </a:r>
          </a:p>
          <a:p>
            <a:pPr>
              <a:spcAft>
                <a:spcPts val="900"/>
              </a:spcAft>
              <a:defRPr sz="1500">
                <a:solidFill>
                  <a:srgbClr val="242424"/>
                </a:solidFill>
                <a:latin typeface="Aptos"/>
              </a:defRPr>
            </a:pPr>
            <a:r>
              <a:t>• Simple tenant-friendly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673AB7"/>
                </a:solidFill>
                <a:latin typeface="Aptos Display"/>
              </a:defRPr>
            </a:pPr>
            <a:r>
              <a:t>Tenant Search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6666"/>
                </a:solidFill>
                <a:latin typeface="Aptos"/>
              </a:defRPr>
            </a:pPr>
            <a:r>
              <a:t>A simple path from search to contact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325880"/>
            <a:ext cx="530352" cy="530352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44168"/>
            <a:ext cx="530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307592"/>
            <a:ext cx="8412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42424"/>
                </a:solidFill>
              </a:defRPr>
            </a:pPr>
            <a:r>
              <a:t>Open RoomFinder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240280"/>
            <a:ext cx="530352" cy="530352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258568"/>
            <a:ext cx="530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221992"/>
            <a:ext cx="8412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42424"/>
                </a:solidFill>
              </a:defRPr>
            </a:pPr>
            <a:r>
              <a:t>View available rooms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154680"/>
            <a:ext cx="530352" cy="530352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172968"/>
            <a:ext cx="530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136392"/>
            <a:ext cx="8412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42424"/>
                </a:solidFill>
              </a:defRPr>
            </a:pPr>
            <a:r>
              <a:t>Compare rent &amp; location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069080"/>
            <a:ext cx="530352" cy="530352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087368"/>
            <a:ext cx="530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050792"/>
            <a:ext cx="8412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42424"/>
                </a:solidFill>
              </a:defRPr>
            </a:pPr>
            <a:r>
              <a:t>Select a suitable room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983480"/>
            <a:ext cx="530352" cy="530352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001768"/>
            <a:ext cx="530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965192"/>
            <a:ext cx="8412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42424"/>
                </a:solidFill>
              </a:defRPr>
            </a:pPr>
            <a:r>
              <a:t>Contact owner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673AB7"/>
                </a:solidFill>
                <a:latin typeface="Aptos Display"/>
              </a:defRPr>
            </a:pPr>
            <a:r>
              <a:t>Step 4 — Analytics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7818120" cy="4892040"/>
          </a:xfrm>
          <a:prstGeom prst="roundRect">
            <a:avLst>
              <a:gd name="adj" fmla="val 4206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673AB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45880" y="2560320"/>
            <a:ext cx="2743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42424"/>
                </a:solidFill>
                <a:latin typeface="Aptos"/>
              </a:defRPr>
            </a:pPr>
            <a:r>
              <a:t>• Total registered rooms</a:t>
            </a:r>
          </a:p>
          <a:p>
            <a:pPr>
              <a:spcAft>
                <a:spcPts val="900"/>
              </a:spcAft>
              <a:defRPr sz="1400">
                <a:solidFill>
                  <a:srgbClr val="242424"/>
                </a:solidFill>
                <a:latin typeface="Aptos"/>
              </a:defRPr>
            </a:pPr>
            <a:r>
              <a:t>• Available rooms</a:t>
            </a:r>
          </a:p>
          <a:p>
            <a:pPr>
              <a:spcAft>
                <a:spcPts val="900"/>
              </a:spcAft>
              <a:defRPr sz="1400">
                <a:solidFill>
                  <a:srgbClr val="242424"/>
                </a:solidFill>
                <a:latin typeface="Aptos"/>
              </a:defRPr>
            </a:pPr>
            <a:r>
              <a:t>• Average monthly rent</a:t>
            </a:r>
          </a:p>
          <a:p>
            <a:pPr>
              <a:spcAft>
                <a:spcPts val="900"/>
              </a:spcAft>
              <a:defRPr sz="1400">
                <a:solidFill>
                  <a:srgbClr val="242424"/>
                </a:solidFill>
                <a:latin typeface="Aptos"/>
              </a:defRPr>
            </a:pPr>
            <a:r>
              <a:t>• Rooms by area</a:t>
            </a:r>
          </a:p>
          <a:p>
            <a:pPr>
              <a:spcAft>
                <a:spcPts val="900"/>
              </a:spcAft>
              <a:defRPr sz="1400">
                <a:solidFill>
                  <a:srgbClr val="242424"/>
                </a:solidFill>
                <a:latin typeface="Aptos"/>
              </a:defRPr>
            </a:pPr>
            <a:r>
              <a:t>• Rooms by room type</a:t>
            </a:r>
          </a:p>
          <a:p>
            <a:pPr>
              <a:spcAft>
                <a:spcPts val="900"/>
              </a:spcAft>
              <a:defRPr sz="1400">
                <a:solidFill>
                  <a:srgbClr val="242424"/>
                </a:solidFill>
                <a:latin typeface="Aptos"/>
              </a:defRPr>
            </a:pPr>
            <a:r>
              <a:t>• Availability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673AB7"/>
                </a:solidFill>
                <a:latin typeface="Aptos Display"/>
              </a:defRPr>
            </a:pPr>
            <a:r>
              <a:t>What Can We Learn From the Data?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6666"/>
                </a:solidFill>
                <a:latin typeface="Aptos"/>
              </a:defRPr>
            </a:pPr>
            <a:r>
              <a:t>Example analytical questions — replace with your actual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337560" cy="1691640"/>
          </a:xfrm>
          <a:prstGeom prst="roundRect">
            <a:avLst/>
          </a:prstGeom>
          <a:solidFill>
            <a:srgbClr val="F3EEFA"/>
          </a:solidFill>
          <a:ln>
            <a:solidFill>
              <a:srgbClr val="E0D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04671" y="1536192"/>
            <a:ext cx="438912" cy="438912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536192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29967"/>
            <a:ext cx="293522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73AB7"/>
                </a:solidFill>
                <a:latin typeface="Aptos"/>
              </a:defRPr>
            </a:pPr>
            <a:r>
              <a:t>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32304"/>
            <a:ext cx="29352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2424"/>
                </a:solidFill>
                <a:latin typeface="Aptos"/>
              </a:defRPr>
            </a:pPr>
            <a:r>
              <a:t>Which areas have the most room listings?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371600"/>
            <a:ext cx="3337560" cy="1691640"/>
          </a:xfrm>
          <a:prstGeom prst="roundRect">
            <a:avLst/>
          </a:prstGeom>
          <a:solidFill>
            <a:srgbClr val="F3EEFA"/>
          </a:solidFill>
          <a:ln>
            <a:solidFill>
              <a:srgbClr val="E0D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45152" y="1536192"/>
            <a:ext cx="438912" cy="438912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2" y="1536192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29967"/>
            <a:ext cx="293522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73AB7"/>
                </a:solidFill>
                <a:latin typeface="Aptos"/>
              </a:defRPr>
            </a:pPr>
            <a:r>
              <a:t>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432304"/>
            <a:ext cx="29352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2424"/>
                </a:solidFill>
                <a:latin typeface="Aptos"/>
              </a:defRPr>
            </a:pPr>
            <a:r>
              <a:t>What is the average monthly rent?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371600"/>
            <a:ext cx="3337560" cy="1691640"/>
          </a:xfrm>
          <a:prstGeom prst="roundRect">
            <a:avLst/>
          </a:prstGeom>
          <a:solidFill>
            <a:srgbClr val="F3EEFA"/>
          </a:solidFill>
          <a:ln>
            <a:solidFill>
              <a:srgbClr val="E0D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85632" y="1536192"/>
            <a:ext cx="438912" cy="438912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85632" y="1536192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2029967"/>
            <a:ext cx="293522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73AB7"/>
                </a:solidFill>
                <a:latin typeface="Aptos"/>
              </a:defRPr>
            </a:pPr>
            <a:r>
              <a:t>Room 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2432304"/>
            <a:ext cx="29352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2424"/>
                </a:solidFill>
                <a:latin typeface="Aptos"/>
              </a:defRPr>
            </a:pPr>
            <a:r>
              <a:t>Which room types are most common?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520440"/>
            <a:ext cx="3337560" cy="1691640"/>
          </a:xfrm>
          <a:prstGeom prst="roundRect">
            <a:avLst/>
          </a:prstGeom>
          <a:solidFill>
            <a:srgbClr val="F3EEFA"/>
          </a:solidFill>
          <a:ln>
            <a:solidFill>
              <a:srgbClr val="E0D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04671" y="3685032"/>
            <a:ext cx="438912" cy="438912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1" y="3685032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178808"/>
            <a:ext cx="293522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73AB7"/>
                </a:solidFill>
                <a:latin typeface="Aptos"/>
              </a:defRPr>
            </a:pPr>
            <a:r>
              <a:t>Availability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4581144"/>
            <a:ext cx="29352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2424"/>
                </a:solidFill>
                <a:latin typeface="Aptos"/>
              </a:defRPr>
            </a:pPr>
            <a:r>
              <a:t>How many rooms are currently marked available?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3520440"/>
            <a:ext cx="3337560" cy="1691640"/>
          </a:xfrm>
          <a:prstGeom prst="roundRect">
            <a:avLst/>
          </a:prstGeom>
          <a:solidFill>
            <a:srgbClr val="F3EEFA"/>
          </a:solidFill>
          <a:ln>
            <a:solidFill>
              <a:srgbClr val="E0D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645152" y="3685032"/>
            <a:ext cx="438912" cy="438912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45152" y="3685032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1728" y="4178808"/>
            <a:ext cx="293522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73AB7"/>
                </a:solidFill>
                <a:latin typeface="Aptos"/>
              </a:defRPr>
            </a:pPr>
            <a:r>
              <a:t>Supply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8" y="4581144"/>
            <a:ext cx="29352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2424"/>
                </a:solidFill>
                <a:latin typeface="Aptos"/>
              </a:defRPr>
            </a:pPr>
            <a:r>
              <a:t>Which areas have fewer listed rooms?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3520440"/>
            <a:ext cx="3337560" cy="1691640"/>
          </a:xfrm>
          <a:prstGeom prst="roundRect">
            <a:avLst/>
          </a:prstGeom>
          <a:solidFill>
            <a:srgbClr val="F3EEFA"/>
          </a:solidFill>
          <a:ln>
            <a:solidFill>
              <a:srgbClr val="E0D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485632" y="3685032"/>
            <a:ext cx="438912" cy="438912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85632" y="3685032"/>
            <a:ext cx="438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4178808"/>
            <a:ext cx="293522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73AB7"/>
                </a:solidFill>
                <a:latin typeface="Aptos"/>
              </a:defRPr>
            </a:pPr>
            <a:r>
              <a:t>Comparison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4581144"/>
            <a:ext cx="29352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2424"/>
                </a:solidFill>
                <a:latin typeface="Aptos"/>
              </a:defRPr>
            </a:pPr>
            <a:r>
              <a:t>How does rent vary by area or room type?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673AB7"/>
                </a:solidFill>
                <a:latin typeface="Aptos Display"/>
              </a:defRPr>
            </a:pPr>
            <a:r>
              <a:t>Live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19</a:t>
            </a:r>
          </a:p>
        </p:txBody>
      </p:sp>
      <p:pic>
        <p:nvPicPr>
          <p:cNvPr id="18" name="Picture 17" descr="Google Forms - Workforce EdTech">
            <a:hlinkClick r:id="rId2"/>
            <a:extLst>
              <a:ext uri="{FF2B5EF4-FFF2-40B4-BE49-F238E27FC236}">
                <a16:creationId xmlns:a16="http://schemas.microsoft.com/office/drawing/2014/main" id="{B1C8A78C-C98B-6ECD-A4D7-1392F2D1F10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591" y="2012858"/>
            <a:ext cx="2371409" cy="245497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9" name="Picture 18" descr="Google Sheets Add-on">
            <a:hlinkClick r:id="rId4"/>
            <a:extLst>
              <a:ext uri="{FF2B5EF4-FFF2-40B4-BE49-F238E27FC236}">
                <a16:creationId xmlns:a16="http://schemas.microsoft.com/office/drawing/2014/main" id="{CABA3810-CA34-1F33-0F5D-6E073F0762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9460" y="2012858"/>
            <a:ext cx="2371409" cy="245497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20" name="Picture 19" descr="A Beginner's Guide to Google Apps Script">
            <a:hlinkClick r:id="rId6"/>
            <a:extLst>
              <a:ext uri="{FF2B5EF4-FFF2-40B4-BE49-F238E27FC236}">
                <a16:creationId xmlns:a16="http://schemas.microsoft.com/office/drawing/2014/main" id="{CDFACBC9-EACA-4E50-ACD9-16AB7E6A8A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/>
          <a:srcRect l="20525" r="21451"/>
          <a:stretch>
            <a:fillRect/>
          </a:stretch>
        </p:blipFill>
        <p:spPr>
          <a:xfrm>
            <a:off x="6119330" y="2007374"/>
            <a:ext cx="2371409" cy="245497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21" name="Picture 20" descr="What Is Google Looker Studio? A Complete Guide to Google's Free Data Visualization Tool | sleon productions | Web Design">
            <a:hlinkClick r:id="rId8"/>
            <a:extLst>
              <a:ext uri="{FF2B5EF4-FFF2-40B4-BE49-F238E27FC236}">
                <a16:creationId xmlns:a16="http://schemas.microsoft.com/office/drawing/2014/main" id="{4DD2A219-8BDA-B981-DF8E-170CCAE05E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/>
          <a:srcRect l="20801" t="22722" r="21247" b="25452"/>
          <a:stretch>
            <a:fillRect/>
          </a:stretch>
        </p:blipFill>
        <p:spPr>
          <a:xfrm>
            <a:off x="8769199" y="2007374"/>
            <a:ext cx="2371409" cy="2460454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673AB7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7180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42424"/>
                </a:solidFill>
              </a:defRPr>
            </a:pPr>
            <a:r>
              <a:t>RoomFinder — A Data-Driven Room Discovery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86200"/>
            <a:ext cx="8503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666666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345</Words>
  <Application>Microsoft Office PowerPoint</Application>
  <PresentationFormat>Widescreen</PresentationFormat>
  <Paragraphs>107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Rohit Adhav</cp:lastModifiedBy>
  <cp:revision>6</cp:revision>
  <dcterms:created xsi:type="dcterms:W3CDTF">2013-01-27T09:14:16Z</dcterms:created>
  <dcterms:modified xsi:type="dcterms:W3CDTF">2026-09-30T10:26:36Z</dcterms:modified>
  <cp:category/>
</cp:coreProperties>
</file>